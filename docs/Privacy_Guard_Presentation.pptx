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4B8A6"/>
                </a:solidFill>
              </a:defRPr>
            </a:pPr>
            <a:r>
              <a:t>🛡️ SOCIAL MEDIA PRIVACY AWARENESS &amp; SECURITY MANAGEMENT SYSTEM</a:t>
            </a:r>
          </a:p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Privacy Guard</a:t>
            </a:r>
          </a:p>
          <a:p>
            <a:pPr>
              <a:spcAft>
                <a:spcPts val="2800"/>
              </a:spcAft>
              <a:defRPr sz="1800">
                <a:solidFill>
                  <a:srgbClr val="38BDF8"/>
                </a:solidFill>
              </a:defRPr>
            </a:pPr>
            <a:r>
              <a:t>Enterprise-Grade Privacy Diagnostics, Threat Simulation, Real MySQL Analytics &amp; Incident Governance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Technology: Java 21 • Spring Boot 3.2.5 • Spring Security • MySQL 8 • OpenPDF • Chart.js</a:t>
            </a:r>
            <a:br/>
            <a:r>
              <a:t>Author: Senior Engineering &amp; Security Audit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SECURITY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Statement: Digital Vulnerability &amp; Social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Social Media Threat Vectors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Rapid surge in smishing, brand impersonation, and micro-payment parcel scams targeting social accounts.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Oversharing of location, workplace schedule, and birthdays fuels targeted identity theft and credential compromise.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Users lack situational awareness regarding social engineering psychology and urgency lures.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Human Factor Deficits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Static policy documents and corporate compliance checklists fail to build practical threat detection habits.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Lack of interactive, hands-on phishing lure analysis where users can inspect sender headers and lookalike domains.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transparency into personal risk posture and progress across diverse privacy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Organizational Gaps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Traditional platforms rely on hardcoded statistics or static mock dashboards rather than live database metrics.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structured mechanism to report, review, and officially audit security incidents to CSV/PDF formats.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Vulnerability to stale session hijacking and unauthorized admin privilege persistence.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STRATEGIC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Objectives: Diagnostic, Educational &amp; Governance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1. Diagnostic Privacy Assessment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Comprehensive 15-question pedagogical quiz covering 6 core privacy dimensions.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Dynamic scoring engine with transparent percentage computation and risk tiering (Low to Critical).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2. Realistic Phishing Simulation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Interactive threat lab with 10 synthetic real-world scenarios across Email, SMS, and Direct Messages.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Granular red-flag scoring distinguishing legitimate indicators from intentional distractors.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3. Database-Backed Live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100% MySQL-backed analytics with zero mock or hardcoded statistics across user and admin dashboards.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Temporal registration growth, category risk radar, and most-missed question discovery.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4. Incident Governance &amp; Audit Reporting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lifecycle incident review pipeline with administrator notes and status updates.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Enterprise-grade CSV export with formula injection defense and OpenPDF publication.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Existing System Limitations vs. Privacy Guard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Conventional Approaches (Existing)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Static Training: Monolithic text slides without hands-on simulation or red flag detection.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Mock Statistics: Dashboards often display hardcoded metrics or fabricate trends for zero-history users.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Weak Session Lifecycle: Deleting an account leaves active browser sessions authenticated indefinitely.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Bootstrap Re-creation: Application restarts silently resurrect deleted admin accounts.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Unsafe Content Deletion: Deleting questions breaks historical assessment integrity and audit scores.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Official Export: Incidents locked in UI with no standard CSV or printable executive PDF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Privacy Guard Engineered Solution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Active Diagnostics &amp; Lab: Interactive assessment quiz paired with 10 scenario-based phishing simulations.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Pure MySQL Analytics: Real queries compute scores, module progress, growth curves, and empty states.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UserAccountStatusFilter: Active requests verify DB existence; revoked accounts receive immediate 401.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Explicit Admin Governance: Seeded only on empty DB; recovery requires explicit ADMIN_RECOVER flag.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Relational Deletion Safeguards: Questions and modules with user history are protected from hard deletion.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Enterprise Exports: OpenPDF landscape reports &amp; formula-shielded CSV data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Multi-Tier Enterprise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103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Presentation Tier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Single Page Admin: admin.html with tab-based operations.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Learner Dashboard: Interactive Chart.js trend lines &amp; risk breakdowns.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Shared Runtime: app.js handling CSRF tokens, animated counters, and modals.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Mobile Responsive: Dark-themed cybersecurity aesthetic.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103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Security Gateway Tier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Spring Security 6: Role-based URL filters (ROLE_ADMIN vs ROLE_USER).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Double-Submit CSRF: CookieCsrfTokenRepository (XSRF-TOKEN).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UserAccountStatusFilter: Real-time session validation against MySQL.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BCrypt 12 Rounds: Salted password hashing for all identities.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103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Application Service Tier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RESTful Controllers: Auth, Dashboard, Quiz, Incidents, Simulation, Admin.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Domain Services: Decoupled business logic &amp; transaction boundaries.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OpenPDF Generator: Programmatic PDF reporting with tabular layouts.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CSV Sanitize Engine: Protection against formula injection attacks.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103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Data Persistence Tier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Spring Data JPA: 11 Repository interfaces with custom queries.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Hibernate 6 ORM: Schema synchronization and entity relationship graphs.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MySQL 8 Database: ACID compliant, InnoDB engine with UTF-8MB4.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HikariCP: High-performance enterprise database connection pooling.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DATA MODEL &amp;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Relational Schema &amp; Entity Relationships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User &amp; Governance Entities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USERS: Master identity store (id, username, email, password_hash, role, enabled, timestamps).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INCIDENT_REPORTS: Security issues submitted by users (user_id FK, incident_type, platform, status, admin_notes).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Cascade Integrity: User deletion cascades to test results while preserving anonymized logs where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Assessment &amp; Curriculum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QUIZ_QUESTIONS &amp; QUIZ_OPTIONS: 1-to-Many diagnostic question format with correct choice flag.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ASSESSMENT_RESULTS: Aggregate quiz results (total_score, max_score, risk_level, taken_at).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ASSESSMENT_ANSWERS: Detailed per-question answer audit linked to Question and Option FKs.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LEARNING_MODULES &amp; MODULE_PROGRESS: Curricula tracking completed state per learner.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Simulation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PHISHING_SCENARIOS: Lure scenarios across Email, SMS, and Direct Messages.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PHISHING_RED_FLAGS: Granular true red flags vs. distractor indicators.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SIMULATION_RESULTS: Learner performance records (score, flags_identified, false_positives, passed, feedback).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TECHNICAL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Technology Stack &amp; Libraries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Java 21 LTS &amp; Spring Boot 3.2.5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Modern Java virtual machine features with virtual threads readiness.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Spring Boot Starter Web, Validation, and Actuator modules.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Spring Security 6 &amp; BCrypt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Method-level security (@PreAuthorize), stateless API routes.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Adaptive BCrypt hashing (strength factor 12) for credential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Frontend &amp; Analytics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Vanilla HTML5 / Modern CSS: High-performance dark-themed UI without heavy frontend framework bloat.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Vanilla JavaScript (ES2022): Asynchronous Fetch API, CSRF injection, and custom modal handling.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Chart.js 4.4.2: Dynamic HTML5 Canvas rendering for score trends, category risk breakdowns, and user registration curves.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MySQL 8 &amp; Spring Data JPA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Enterprise relational database with InnoDB ACID transactions.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Hibernate 6 ORM with HikariCP connection pooling.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1480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OpenPDF 1.3.40 Export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LibrePDF OpenPDF: Lightweight Java PDF generator.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Generates landscape audit documents with tables and headers.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USER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Learner Experience: Assessment, Learning &amp; Threat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Diagnostic Privacy Assessment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15 scenario-based questions covering 6 privacy dimensions.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Instant score report with percentage, risk badge, and actionable topic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Interactive Phishing Simulator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10 realistic scenarios (ApexBank wire, InstaVibe blue badge, CloudDrive quota).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Select specific red-flag indicators while avoiding convincing distractors.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Learning Center &amp; Progress Tracker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6 structured modules with estimated reading duration and rich pedagogical HTML content.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One-click completion marking synced to personal dashboard progress 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Incident Reporting &amp; Password Strength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User reporting interface for suspicious messages, leaks, or impersonations.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Interactive zxcvbn-based password strength estimator with entropy and crack time calculations.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ADMIN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Administrator Command &amp; Governance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User Access Management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user listing with search by username, email, and role/status filtering.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Inline role elevation (USER &lt;-&gt; ADMIN), instant account deactivation, and safe deletion.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Incident Triage &amp; Resolution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View all incoming user incident reports with category, platform, and date.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Update investigation states (Open, Under Review, Resolved, Dismissed) with admin notes.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Quiz Question Management (CRUD)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Create, edit, and toggle diagnostic assessment questions with multiple options.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Relational integrity check: prevents hard deletion of questions with user response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Learning Module Management (CRUD)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Create, update, and sequence educational modules with HTML content and est. minutes.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Curriculum safeguard: blocks deletion of modules already completed by learners.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ASSESSMENT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Transparent Diagnostic Scoring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Mathematical Formulation &amp; Categories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Category Dimensions: Phishing, Password Safety, Privacy Settings, Identity Theft, Cyberbullying, Oversharing.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Question Weight: 10 points per question; 15 standard active questions = 150 Maximum Possible Score.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Score Formula: Percentage = (Total Points Earned / Max Possible Points) * 100.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Example Execution: Score of 10 / 150 points evaluates to 6.67% accuracy.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Category Breakdown: Category Accuracy = (Correct in Category / Total Attempted in Category) * 100.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Awareness Risk Tiers &amp; Interpretation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LOW RISK (&gt;= 80%): Strong privacy habits and defensive reflexes.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MEDIUM RISK (60% - 79.9%): Moderate awareness with specific vulnerability areas.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 RISK (40% - 59.9%): Significant vulnerability; prompt learning required.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CRITICAL RISK (&lt; 40%): Urgent need for foundational privacy training.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Pedagogical Clarification: Score reflects demonstrated conceptual awareness on synthetic questions — not an actuarial probability of account breach.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Dynamic Recommendations: Learner interface extracts weak categories and suggests corresponding modules.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INTELLIGENCE &amp; 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 Database Analytics &amp; Multi-Format Exports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Pure Database-Backed Metrics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User Analytics: Total quiz attempts, historical dated score trends, category risk radar, and module progress from MySQL.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Admin Analytics: Active vs. disabled users, total assessments, system-wide average percentage (excluding empty profiles).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Incident Distribution: Incidents grouped by category (phishing, impersonation, leak) and status (open, resolved).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Registration Trends: Users grouped by registration week over a rolling 6-week window.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Mock Data: Meaningful empty states displayed when no records exist; never fabricates dummy 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Incident Audit Export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CSV Export (/api/admin/incidents/export/csv): Full incident dump filtered by status and category.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Formula Injection Shielding: Automatically neutralizes CSV injection vectors (=, +, -, @, tab, return).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UTF-8 BOM Included: Guarantees seamless special-character display in Microsoft Excel.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PDF Export (/api/admin/incidents/export/pdf): Executive audit document generated using OpenPDF.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Landscape Table: Displays ID, timestamp, reporter email, platform, category, status, and admin resolution notes.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Summary KPI Header: Includes breakdown counts of Open, Under Review, Resolved, and Dismissed incidents.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CYBERSECURITY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Enterprise Security Architecture &amp; Defense-In-Depth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Authentication &amp; Session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UserAccountStatusFilter: Active requests check database state; deleted/disabled users receive instant HTTP 401.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Session Revocation: Invalidation of HttpSession on logout and credential modification.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Explicit Admin Recovery: No silent admin recreation on restart; requires explicit ADMIN_RECOVER flag.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Access &amp; Data Protection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Role-Based Access: Server-side enforcement of ROLE_ADMIN on all /api/admin/** routes and admin.html.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Self-Service Password Change: /api/auth/change-password validates current password and complexity.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Secret Sanitization: Zero plaintext passwords or password hashes logged or sent in API payloads.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Input &amp; Injection Defense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CSRF Protection: CookieCsrfTokenRepository with HttpOnly=false for secure double-submit token matching.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Spreadsheet Formula Shielding: Prevents DDE execution attacks via CSV export cells.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SQL Injection Immunity: Parameterized Spring Data JPA / Hibernate queries across all repositories.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Verification &amp; Regression Test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Unit &amp; Integration Suite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AdminAnalyticsTests: Verifies payload completeness and KPI accuracy.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AdminUserManagementTests: Role toggle, deactivation safeguards, last admin defense.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DashboardAnalyticsTests: Cross-user metric isolation.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PhishingSimulatorTests: Scenario retrieval and scoring.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Result: 15 / 15 Passed (0 Failures, 0 Errors).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Live MySQL E2E Pipeline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test-runner.ps1: End-to-end PowerShell automated test harness against live MySQL on port 8080.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Tests Registration, Login, CSRF enforcement, Quiz submission, Module progress, and Incident filing.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Tests Admin User CRUD, Question activation, and Module toggle.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Result: 31 / 31 Passed (100% Pass Rate).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New Regression Verifications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Password Change Endpoint: Verified rejecting incorrect current passwords and confirming new hashes.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Deleted User Session Revocation: Verified UserAccountStatusFilter returning 401 on deleted credentials.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Incident CSV &amp; PDF Exports: Verified formula escaping, HTTP attachment headers, and data accuracy.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Question &amp; Module CRUD: Verified safe deletion blocks on relational constraints.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ROADMAP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Boundaries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Current System Limitations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In-Memory Phishing Lures: Scenarios are simulated within the web browser; no real email delivery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Local Session Store: Sessions are bound to Tomcat memory; scaling across multi-node clusters would require Redis.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Manual Incident Resolution: Incident triage currently requires human administrator review without automated SIEM webhooks.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Static Question Pool: Questions are persisted in MySQL and managed via Admin UI, rather than generated dynamically via LLM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Proposed Future Scope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Simulated Email Dispatch: Integration with SMTP / SendGrid to dispatch scheduled benign phishing emails to opted-in users.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OAuth2 &amp; SSO Integration: Support Google and GitHub social logins alongside existing username/password authentication.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AI-Powered Phishing Generation: Leverage Gemini API to generate dynamic, personalized social engineering lures based on learner weak points.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Distributed Redis Session Store: Transition session management to Spring Session Redis for multi-instance high-availability deployments.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SIEM / Slack Webhook Integration: Push high-priority incident reports directly to enterprise security team channels.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 of Achievements &amp; Engineering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Project Accomplishments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Resolved Root Cause Auth Flaws: Eliminated bootstrap credential confusion and zombie admin sessions.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100% Database Analytics: Replaced mock numbers with live MySQL aggregation queries across both dashboards.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CRUD Controls: Implemented complete management for quiz questions and modules with relational safety.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Multi-Format Incident Exports: Delivered CSV with injection protection and OpenPDF executive reporting.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Robust Security Posture: CSRF double-submit, UserAccountStatusFilter, and BCrypt 12 rounds.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Production-Grade Verification: 15 unit tests + 31 live integration tests passed with 100% success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Takeaways &amp; Significance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Demonstrated how defensive application security and robust relational design transform educational compliance into an active, engaging defense capability.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Privacy Guard stands as a reliable, fully documented, and extensible platform for social media cybersecurity education.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Thank you! Questions and discussions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